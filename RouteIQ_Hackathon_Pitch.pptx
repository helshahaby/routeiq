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934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Hossam Elshahaby, and I'm presenting RouteIQ: an evidence-driven inference control plane for open models. Every workload deserves the right model. RouteIQ uses Nebius Token Factory for inference and chooses the capability needed for each request instead of defaulting to the biggest model.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is over-provisioning. AI teams often send classification, extraction, support, coding, and complex reasoning through the same expensive model. Open weights do not mean free hosted inference. Each request still consumes infrastructure, tokens, and time. Without comparable evidence, teams cannot see where they are paying for capability they do not need.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RouteIQ adds that missing control layer. It first gates by capability, then evaluates task family, complexity, benchmark evidence, cost, latency, and prior routing outcomes. It selects Fast, Balanced, or Deep and then an exact eligible Nebius model. It tracks live economics, visualizes trade-offs, uses Tavily only for genuinely fresh external information, and lets the user challenge the automatic choice with another model.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impact is measurable rather than theoretical. RouteIQ tracks quality retained, cost avoided, latency, and Deep calls avoided. Ground-truth benchmarks such as BANKING77 and GSM8K provide stronger evidence than subjective confidence. For a mixed-workload customer such as FinAssist AI, simple support requests can stay on efficient models while difficult reasoning is escalated only when necessary.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live demo. On Route, I enter a request and Auto recommends both a routing profile and an exact model. The metric strip immediately shows latency, tokens, cost when verified pricing is available, and measured quality evidence. I can open the trade-off view to compare quality against cost or latency. I can force another eligible model, run the same task, and compare the two responses. If the alternative is better, RouteIQ records workload-specific adaptive evidence. In Benchmark, fixed Fast and Deep controls are compared against RouteIQ Auto, and the quality-cost frontier shows whether expensive inference was actually necessary. Business then turns those measured routes into inference economics.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RouteIQ is designed around one simple principle: fast when sufficient, deep when necessary. It measures every routing decision and learns from evidence instead of assuming that one model is best for everything. Thank you, and I'm happy to answer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oom.com/share/0fb58bf696584561afbba466779e1ae9"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loom.com/share/0fb58bf696584561afbba466779e1ae9"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30352" y="438912"/>
            <a:ext cx="1965960" cy="347472"/>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3503" y="448056"/>
            <a:ext cx="1819656" cy="310896"/>
          </a:xfrm>
          <a:prstGeom prst="rect">
            <a:avLst/>
          </a:prstGeom>
          <a:noFill/>
        </p:spPr>
        <p:txBody>
          <a:bodyPr wrap="square" anchor="ctr">
            <a:spAutoFit/>
          </a:bodyPr>
          <a:lstStyle/>
          <a:p>
            <a:pPr algn="ctr"/>
            <a:r>
              <a:rPr sz="1000" b="1">
                <a:solidFill>
                  <a:srgbClr val="1DD3DD"/>
                </a:solidFill>
                <a:latin typeface="Aptos"/>
              </a:rPr>
              <a:t>NEBIUS TOKEN FACTORY</a:t>
            </a:r>
          </a:p>
        </p:txBody>
      </p:sp>
      <p:sp>
        <p:nvSpPr>
          <p:cNvPr id="5" name="Rounded Rectangle 4"/>
          <p:cNvSpPr/>
          <p:nvPr/>
        </p:nvSpPr>
        <p:spPr>
          <a:xfrm>
            <a:off x="2606040" y="438912"/>
            <a:ext cx="1325880" cy="347472"/>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679192" y="448056"/>
            <a:ext cx="1179576" cy="310896"/>
          </a:xfrm>
          <a:prstGeom prst="rect">
            <a:avLst/>
          </a:prstGeom>
          <a:noFill/>
        </p:spPr>
        <p:txBody>
          <a:bodyPr wrap="square" anchor="ctr">
            <a:spAutoFit/>
          </a:bodyPr>
          <a:lstStyle/>
          <a:p>
            <a:pPr algn="ctr"/>
            <a:r>
              <a:rPr sz="1000" b="1">
                <a:solidFill>
                  <a:srgbClr val="1DD3DD"/>
                </a:solidFill>
                <a:latin typeface="Aptos"/>
              </a:rPr>
              <a:t>OPEN MODELS</a:t>
            </a:r>
          </a:p>
        </p:txBody>
      </p:sp>
      <p:sp>
        <p:nvSpPr>
          <p:cNvPr id="7" name="TextBox 6"/>
          <p:cNvSpPr txBox="1"/>
          <p:nvPr/>
        </p:nvSpPr>
        <p:spPr>
          <a:xfrm>
            <a:off x="530352" y="1325880"/>
            <a:ext cx="5669280" cy="822960"/>
          </a:xfrm>
          <a:prstGeom prst="rect">
            <a:avLst/>
          </a:prstGeom>
          <a:noFill/>
        </p:spPr>
        <p:txBody>
          <a:bodyPr wrap="square" anchor="ctr">
            <a:spAutoFit/>
          </a:bodyPr>
          <a:lstStyle/>
          <a:p>
            <a:pPr algn="l"/>
            <a:r>
              <a:rPr sz="4400" b="1">
                <a:solidFill>
                  <a:srgbClr val="EEF4F7"/>
                </a:solidFill>
                <a:latin typeface="Aptos"/>
              </a:rPr>
              <a:t>RouteIQ</a:t>
            </a:r>
          </a:p>
        </p:txBody>
      </p:sp>
      <p:sp>
        <p:nvSpPr>
          <p:cNvPr id="8" name="TextBox 7"/>
          <p:cNvSpPr txBox="1"/>
          <p:nvPr/>
        </p:nvSpPr>
        <p:spPr>
          <a:xfrm>
            <a:off x="548640" y="2148840"/>
            <a:ext cx="8778240" cy="594360"/>
          </a:xfrm>
          <a:prstGeom prst="rect">
            <a:avLst/>
          </a:prstGeom>
          <a:noFill/>
        </p:spPr>
        <p:txBody>
          <a:bodyPr wrap="square" anchor="ctr">
            <a:spAutoFit/>
          </a:bodyPr>
          <a:lstStyle/>
          <a:p>
            <a:pPr algn="l"/>
            <a:r>
              <a:rPr sz="2400" b="1">
                <a:solidFill>
                  <a:srgbClr val="1DD3DD"/>
                </a:solidFill>
                <a:latin typeface="Aptos"/>
              </a:rPr>
              <a:t>Every workload deserves the right model.</a:t>
            </a:r>
          </a:p>
        </p:txBody>
      </p:sp>
      <p:sp>
        <p:nvSpPr>
          <p:cNvPr id="9" name="TextBox 8"/>
          <p:cNvSpPr txBox="1"/>
          <p:nvPr/>
        </p:nvSpPr>
        <p:spPr>
          <a:xfrm>
            <a:off x="548640" y="2788920"/>
            <a:ext cx="8595360" cy="914400"/>
          </a:xfrm>
          <a:prstGeom prst="rect">
            <a:avLst/>
          </a:prstGeom>
          <a:noFill/>
        </p:spPr>
        <p:txBody>
          <a:bodyPr wrap="square" anchor="ctr">
            <a:spAutoFit/>
          </a:bodyPr>
          <a:lstStyle/>
          <a:p>
            <a:pPr algn="l"/>
            <a:r>
              <a:rPr sz="1700" b="0">
                <a:solidFill>
                  <a:srgbClr val="99A8B1"/>
                </a:solidFill>
                <a:latin typeface="Aptos"/>
              </a:rPr>
              <a:t>Evidence-driven inference routing across open models: preserve required quality while reducing unnecessary cost and latency.</a:t>
            </a:r>
          </a:p>
        </p:txBody>
      </p:sp>
      <p:sp>
        <p:nvSpPr>
          <p:cNvPr id="10" name="TextBox 9"/>
          <p:cNvSpPr txBox="1"/>
          <p:nvPr/>
        </p:nvSpPr>
        <p:spPr>
          <a:xfrm>
            <a:off x="548640" y="4756417"/>
            <a:ext cx="4572000" cy="830997"/>
          </a:xfrm>
          <a:prstGeom prst="rect">
            <a:avLst/>
          </a:prstGeom>
          <a:noFill/>
        </p:spPr>
        <p:txBody>
          <a:bodyPr wrap="square" anchor="ctr">
            <a:spAutoFit/>
          </a:bodyPr>
          <a:lstStyle/>
          <a:p>
            <a:pPr algn="l"/>
            <a:r>
              <a:rPr sz="1800" b="1" dirty="0">
                <a:solidFill>
                  <a:srgbClr val="EEF4F7"/>
                </a:solidFill>
                <a:latin typeface="Aptos"/>
              </a:rPr>
              <a:t>Hossam Elshahaby</a:t>
            </a:r>
            <a:r>
              <a:rPr lang="sv-SE" sz="1800" b="1" dirty="0">
                <a:solidFill>
                  <a:srgbClr val="EEF4F7"/>
                </a:solidFill>
                <a:latin typeface="Aptos"/>
              </a:rPr>
              <a:t> – Team </a:t>
            </a:r>
            <a:r>
              <a:rPr lang="sv-SE" sz="1800" b="1" dirty="0" err="1">
                <a:solidFill>
                  <a:srgbClr val="EEF4F7"/>
                </a:solidFill>
                <a:latin typeface="Aptos"/>
              </a:rPr>
              <a:t>AcceliQ</a:t>
            </a:r>
            <a:endParaRPr lang="sv-SE" sz="1800" b="1" dirty="0">
              <a:solidFill>
                <a:srgbClr val="EEF4F7"/>
              </a:solidFill>
              <a:latin typeface="Aptos"/>
            </a:endParaRPr>
          </a:p>
          <a:p>
            <a:pPr algn="l"/>
            <a:r>
              <a:rPr lang="sv-SE" b="1" dirty="0">
                <a:solidFill>
                  <a:srgbClr val="EEF4F7"/>
                </a:solidFill>
                <a:latin typeface="Aptos"/>
                <a:hlinkClick r:id="rId3"/>
              </a:rPr>
              <a:t>Demo</a:t>
            </a:r>
            <a:endParaRPr lang="sv-SE" sz="1800" b="1" dirty="0">
              <a:solidFill>
                <a:srgbClr val="EEF4F7"/>
              </a:solidFill>
              <a:latin typeface="Aptos"/>
            </a:endParaRPr>
          </a:p>
          <a:p>
            <a:pPr algn="l"/>
            <a:endParaRPr lang="sv-SE" sz="1200" dirty="0">
              <a:solidFill>
                <a:srgbClr val="EEF4F7"/>
              </a:solidFill>
              <a:latin typeface="Aptos"/>
            </a:endParaRPr>
          </a:p>
        </p:txBody>
      </p:sp>
      <p:sp>
        <p:nvSpPr>
          <p:cNvPr id="11" name="TextBox 10"/>
          <p:cNvSpPr txBox="1"/>
          <p:nvPr/>
        </p:nvSpPr>
        <p:spPr>
          <a:xfrm>
            <a:off x="548640" y="5577840"/>
            <a:ext cx="4572000" cy="320040"/>
          </a:xfrm>
          <a:prstGeom prst="rect">
            <a:avLst/>
          </a:prstGeom>
          <a:noFill/>
        </p:spPr>
        <p:txBody>
          <a:bodyPr wrap="square" anchor="ctr">
            <a:spAutoFit/>
          </a:bodyPr>
          <a:lstStyle/>
          <a:p>
            <a:pPr algn="l"/>
            <a:r>
              <a:rPr sz="1200" b="0">
                <a:solidFill>
                  <a:srgbClr val="99A8B1"/>
                </a:solidFill>
                <a:latin typeface="Aptos"/>
              </a:rPr>
              <a:t>Accel Amsterdam Hackathon • 2026</a:t>
            </a:r>
          </a:p>
        </p:txBody>
      </p:sp>
      <p:sp>
        <p:nvSpPr>
          <p:cNvPr id="12" name="Oval 11"/>
          <p:cNvSpPr/>
          <p:nvPr/>
        </p:nvSpPr>
        <p:spPr>
          <a:xfrm>
            <a:off x="8549640" y="3977639"/>
            <a:ext cx="685800" cy="685800"/>
          </a:xfrm>
          <a:prstGeom prst="ellipse">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4736592"/>
            <a:ext cx="960120" cy="274320"/>
          </a:xfrm>
          <a:prstGeom prst="rect">
            <a:avLst/>
          </a:prstGeom>
          <a:noFill/>
        </p:spPr>
        <p:txBody>
          <a:bodyPr wrap="square" anchor="ctr">
            <a:spAutoFit/>
          </a:bodyPr>
          <a:lstStyle/>
          <a:p>
            <a:pPr algn="ctr"/>
            <a:r>
              <a:rPr sz="900" b="1">
                <a:solidFill>
                  <a:srgbClr val="1DD3DD"/>
                </a:solidFill>
                <a:latin typeface="Aptos"/>
              </a:rPr>
              <a:t>FAST</a:t>
            </a:r>
          </a:p>
        </p:txBody>
      </p:sp>
      <p:sp>
        <p:nvSpPr>
          <p:cNvPr id="14" name="Oval 13"/>
          <p:cNvSpPr/>
          <p:nvPr/>
        </p:nvSpPr>
        <p:spPr>
          <a:xfrm>
            <a:off x="9646920" y="4023359"/>
            <a:ext cx="685800" cy="685800"/>
          </a:xfrm>
          <a:prstGeom prst="ellipse">
            <a:avLst/>
          </a:prstGeom>
          <a:solidFill>
            <a:srgbClr val="0F181D"/>
          </a:solidFill>
          <a:ln>
            <a:solidFill>
              <a:srgbClr val="F5A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09760" y="4782312"/>
            <a:ext cx="960120" cy="274320"/>
          </a:xfrm>
          <a:prstGeom prst="rect">
            <a:avLst/>
          </a:prstGeom>
          <a:noFill/>
        </p:spPr>
        <p:txBody>
          <a:bodyPr wrap="square" anchor="ctr">
            <a:spAutoFit/>
          </a:bodyPr>
          <a:lstStyle/>
          <a:p>
            <a:pPr algn="ctr"/>
            <a:r>
              <a:rPr sz="900" b="1">
                <a:solidFill>
                  <a:srgbClr val="F5A54A"/>
                </a:solidFill>
                <a:latin typeface="Aptos"/>
              </a:rPr>
              <a:t>BALANCED</a:t>
            </a:r>
          </a:p>
        </p:txBody>
      </p:sp>
      <p:sp>
        <p:nvSpPr>
          <p:cNvPr id="16" name="Oval 15"/>
          <p:cNvSpPr/>
          <p:nvPr/>
        </p:nvSpPr>
        <p:spPr>
          <a:xfrm>
            <a:off x="10881360" y="4069079"/>
            <a:ext cx="685800" cy="685800"/>
          </a:xfrm>
          <a:prstGeom prst="ellipse">
            <a:avLst/>
          </a:prstGeom>
          <a:solidFill>
            <a:srgbClr val="0F181D"/>
          </a:solidFill>
          <a:ln>
            <a:solidFill>
              <a:srgbClr val="E15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744200" y="4828031"/>
            <a:ext cx="960120" cy="274320"/>
          </a:xfrm>
          <a:prstGeom prst="rect">
            <a:avLst/>
          </a:prstGeom>
          <a:noFill/>
        </p:spPr>
        <p:txBody>
          <a:bodyPr wrap="square" anchor="ctr">
            <a:spAutoFit/>
          </a:bodyPr>
          <a:lstStyle/>
          <a:p>
            <a:pPr algn="ctr"/>
            <a:r>
              <a:rPr sz="900" b="1">
                <a:solidFill>
                  <a:srgbClr val="E1526C"/>
                </a:solidFill>
                <a:latin typeface="Aptos"/>
              </a:rPr>
              <a:t>DEEP</a:t>
            </a:r>
          </a:p>
        </p:txBody>
      </p:sp>
      <p:sp>
        <p:nvSpPr>
          <p:cNvPr id="18" name="TextBox 17"/>
          <p:cNvSpPr txBox="1"/>
          <p:nvPr/>
        </p:nvSpPr>
        <p:spPr>
          <a:xfrm>
            <a:off x="8595360" y="3063240"/>
            <a:ext cx="2834640" cy="365760"/>
          </a:xfrm>
          <a:prstGeom prst="rect">
            <a:avLst/>
          </a:prstGeom>
          <a:noFill/>
        </p:spPr>
        <p:txBody>
          <a:bodyPr wrap="square" anchor="ctr">
            <a:spAutoFit/>
          </a:bodyPr>
          <a:lstStyle/>
          <a:p>
            <a:pPr algn="ctr"/>
            <a:r>
              <a:rPr sz="1200" b="1">
                <a:solidFill>
                  <a:srgbClr val="EEF4F7"/>
                </a:solidFill>
                <a:latin typeface="Aptos"/>
              </a:rPr>
              <a:t>AUTO ROUTER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3657600" cy="320040"/>
          </a:xfrm>
          <a:prstGeom prst="rect">
            <a:avLst/>
          </a:prstGeom>
          <a:noFill/>
        </p:spPr>
        <p:txBody>
          <a:bodyPr wrap="square" anchor="ctr">
            <a:spAutoFit/>
          </a:bodyPr>
          <a:lstStyle/>
          <a:p>
            <a:pPr algn="l"/>
            <a:r>
              <a:rPr sz="1100" b="1">
                <a:solidFill>
                  <a:srgbClr val="1DD3DD"/>
                </a:solidFill>
                <a:latin typeface="Aptos"/>
              </a:rPr>
              <a:t>PROBLEM</a:t>
            </a:r>
          </a:p>
        </p:txBody>
      </p:sp>
      <p:sp>
        <p:nvSpPr>
          <p:cNvPr id="4" name="TextBox 3"/>
          <p:cNvSpPr txBox="1"/>
          <p:nvPr/>
        </p:nvSpPr>
        <p:spPr>
          <a:xfrm>
            <a:off x="502920" y="685800"/>
            <a:ext cx="11064240" cy="685800"/>
          </a:xfrm>
          <a:prstGeom prst="rect">
            <a:avLst/>
          </a:prstGeom>
          <a:noFill/>
        </p:spPr>
        <p:txBody>
          <a:bodyPr wrap="square" anchor="ctr">
            <a:spAutoFit/>
          </a:bodyPr>
          <a:lstStyle/>
          <a:p>
            <a:pPr algn="l"/>
            <a:r>
              <a:rPr sz="2900" b="1">
                <a:solidFill>
                  <a:srgbClr val="EEF4F7"/>
                </a:solidFill>
                <a:latin typeface="Aptos"/>
              </a:rPr>
              <a:t>AI teams are over-provisioning inference.</a:t>
            </a:r>
          </a:p>
        </p:txBody>
      </p:sp>
      <p:sp>
        <p:nvSpPr>
          <p:cNvPr id="5" name="TextBox 4"/>
          <p:cNvSpPr txBox="1"/>
          <p:nvPr/>
        </p:nvSpPr>
        <p:spPr>
          <a:xfrm>
            <a:off x="502920" y="1353312"/>
            <a:ext cx="10972800" cy="502920"/>
          </a:xfrm>
          <a:prstGeom prst="rect">
            <a:avLst/>
          </a:prstGeom>
          <a:noFill/>
        </p:spPr>
        <p:txBody>
          <a:bodyPr wrap="square" anchor="ctr">
            <a:spAutoFit/>
          </a:bodyPr>
          <a:lstStyle/>
          <a:p>
            <a:pPr algn="l"/>
            <a:r>
              <a:rPr sz="1400" b="0">
                <a:solidFill>
                  <a:srgbClr val="99A8B1"/>
                </a:solidFill>
                <a:latin typeface="Aptos"/>
              </a:rPr>
              <a:t>One premium model is often used for every workload - even when a smaller model is sufficient.</a:t>
            </a:r>
          </a:p>
        </p:txBody>
      </p:sp>
      <p:sp>
        <p:nvSpPr>
          <p:cNvPr id="6" name="Rounded Rectangle 5"/>
          <p:cNvSpPr/>
          <p:nvPr/>
        </p:nvSpPr>
        <p:spPr>
          <a:xfrm>
            <a:off x="502920" y="2148840"/>
            <a:ext cx="3520440" cy="196596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2258568"/>
            <a:ext cx="3191256" cy="256032"/>
          </a:xfrm>
          <a:prstGeom prst="rect">
            <a:avLst/>
          </a:prstGeom>
          <a:noFill/>
        </p:spPr>
        <p:txBody>
          <a:bodyPr wrap="square" anchor="ctr">
            <a:spAutoFit/>
          </a:bodyPr>
          <a:lstStyle/>
          <a:p>
            <a:pPr algn="l"/>
            <a:r>
              <a:rPr sz="1000" b="1">
                <a:solidFill>
                  <a:srgbClr val="99A8B1"/>
                </a:solidFill>
                <a:latin typeface="Aptos"/>
              </a:rPr>
              <a:t>WASTED CAPABILITY</a:t>
            </a:r>
          </a:p>
        </p:txBody>
      </p:sp>
      <p:sp>
        <p:nvSpPr>
          <p:cNvPr id="8" name="TextBox 7"/>
          <p:cNvSpPr txBox="1"/>
          <p:nvPr/>
        </p:nvSpPr>
        <p:spPr>
          <a:xfrm>
            <a:off x="667512" y="2532888"/>
            <a:ext cx="3191256" cy="502920"/>
          </a:xfrm>
          <a:prstGeom prst="rect">
            <a:avLst/>
          </a:prstGeom>
          <a:noFill/>
        </p:spPr>
        <p:txBody>
          <a:bodyPr wrap="square" anchor="ctr">
            <a:spAutoFit/>
          </a:bodyPr>
          <a:lstStyle/>
          <a:p>
            <a:pPr algn="l"/>
            <a:r>
              <a:rPr sz="2200" b="1">
                <a:solidFill>
                  <a:srgbClr val="EEF4F7"/>
                </a:solidFill>
                <a:latin typeface="Aptos"/>
              </a:rPr>
              <a:t>Simple ≠ Deep</a:t>
            </a:r>
          </a:p>
        </p:txBody>
      </p:sp>
      <p:sp>
        <p:nvSpPr>
          <p:cNvPr id="9" name="TextBox 8"/>
          <p:cNvSpPr txBox="1"/>
          <p:nvPr/>
        </p:nvSpPr>
        <p:spPr>
          <a:xfrm>
            <a:off x="667512" y="3730752"/>
            <a:ext cx="3191256" cy="256032"/>
          </a:xfrm>
          <a:prstGeom prst="rect">
            <a:avLst/>
          </a:prstGeom>
          <a:noFill/>
        </p:spPr>
        <p:txBody>
          <a:bodyPr wrap="square" anchor="ctr">
            <a:spAutoFit/>
          </a:bodyPr>
          <a:lstStyle/>
          <a:p>
            <a:pPr algn="l"/>
            <a:r>
              <a:rPr sz="900" b="0">
                <a:solidFill>
                  <a:srgbClr val="99A8B1"/>
                </a:solidFill>
                <a:latin typeface="Aptos"/>
              </a:rPr>
              <a:t>Classification, extraction and short support tasks often do not need the most capable model.</a:t>
            </a:r>
          </a:p>
        </p:txBody>
      </p:sp>
      <p:sp>
        <p:nvSpPr>
          <p:cNvPr id="10" name="Rounded Rectangle 9"/>
          <p:cNvSpPr/>
          <p:nvPr/>
        </p:nvSpPr>
        <p:spPr>
          <a:xfrm>
            <a:off x="4325112" y="2148840"/>
            <a:ext cx="3520440" cy="196596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2258568"/>
            <a:ext cx="3191256" cy="256032"/>
          </a:xfrm>
          <a:prstGeom prst="rect">
            <a:avLst/>
          </a:prstGeom>
          <a:noFill/>
        </p:spPr>
        <p:txBody>
          <a:bodyPr wrap="square" anchor="ctr">
            <a:spAutoFit/>
          </a:bodyPr>
          <a:lstStyle/>
          <a:p>
            <a:pPr algn="l"/>
            <a:r>
              <a:rPr sz="1000" b="1">
                <a:solidFill>
                  <a:srgbClr val="99A8B1"/>
                </a:solidFill>
                <a:latin typeface="Aptos"/>
              </a:rPr>
              <a:t>HIDDEN ECONOMICS</a:t>
            </a:r>
          </a:p>
        </p:txBody>
      </p:sp>
      <p:sp>
        <p:nvSpPr>
          <p:cNvPr id="12" name="TextBox 11"/>
          <p:cNvSpPr txBox="1"/>
          <p:nvPr/>
        </p:nvSpPr>
        <p:spPr>
          <a:xfrm>
            <a:off x="4489704" y="2532888"/>
            <a:ext cx="3191256" cy="502920"/>
          </a:xfrm>
          <a:prstGeom prst="rect">
            <a:avLst/>
          </a:prstGeom>
          <a:noFill/>
        </p:spPr>
        <p:txBody>
          <a:bodyPr wrap="square" anchor="ctr">
            <a:spAutoFit/>
          </a:bodyPr>
          <a:lstStyle/>
          <a:p>
            <a:pPr algn="l"/>
            <a:r>
              <a:rPr sz="2200" b="1">
                <a:solidFill>
                  <a:srgbClr val="EEF4F7"/>
                </a:solidFill>
                <a:latin typeface="Aptos"/>
              </a:rPr>
              <a:t>Cost is fragmented</a:t>
            </a:r>
          </a:p>
        </p:txBody>
      </p:sp>
      <p:sp>
        <p:nvSpPr>
          <p:cNvPr id="13" name="TextBox 12"/>
          <p:cNvSpPr txBox="1"/>
          <p:nvPr/>
        </p:nvSpPr>
        <p:spPr>
          <a:xfrm>
            <a:off x="4489704" y="3730752"/>
            <a:ext cx="3191256" cy="256032"/>
          </a:xfrm>
          <a:prstGeom prst="rect">
            <a:avLst/>
          </a:prstGeom>
          <a:noFill/>
        </p:spPr>
        <p:txBody>
          <a:bodyPr wrap="square" anchor="ctr">
            <a:spAutoFit/>
          </a:bodyPr>
          <a:lstStyle/>
          <a:p>
            <a:pPr algn="l"/>
            <a:r>
              <a:rPr sz="900" b="0">
                <a:solidFill>
                  <a:srgbClr val="99A8B1"/>
                </a:solidFill>
                <a:latin typeface="Aptos"/>
              </a:rPr>
              <a:t>Different open models have different hosted inference prices, token behavior and latency.</a:t>
            </a:r>
          </a:p>
        </p:txBody>
      </p:sp>
      <p:sp>
        <p:nvSpPr>
          <p:cNvPr id="14" name="Rounded Rectangle 13"/>
          <p:cNvSpPr/>
          <p:nvPr/>
        </p:nvSpPr>
        <p:spPr>
          <a:xfrm>
            <a:off x="8138160" y="2148840"/>
            <a:ext cx="3520440" cy="196596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2258568"/>
            <a:ext cx="3191256" cy="256032"/>
          </a:xfrm>
          <a:prstGeom prst="rect">
            <a:avLst/>
          </a:prstGeom>
          <a:noFill/>
        </p:spPr>
        <p:txBody>
          <a:bodyPr wrap="square" anchor="ctr">
            <a:spAutoFit/>
          </a:bodyPr>
          <a:lstStyle/>
          <a:p>
            <a:pPr algn="l"/>
            <a:r>
              <a:rPr sz="1000" b="1">
                <a:solidFill>
                  <a:srgbClr val="99A8B1"/>
                </a:solidFill>
                <a:latin typeface="Aptos"/>
              </a:rPr>
              <a:t>NO FEEDBACK LOOP</a:t>
            </a:r>
          </a:p>
        </p:txBody>
      </p:sp>
      <p:sp>
        <p:nvSpPr>
          <p:cNvPr id="16" name="TextBox 15"/>
          <p:cNvSpPr txBox="1"/>
          <p:nvPr/>
        </p:nvSpPr>
        <p:spPr>
          <a:xfrm>
            <a:off x="8302752" y="2532888"/>
            <a:ext cx="3191256" cy="502920"/>
          </a:xfrm>
          <a:prstGeom prst="rect">
            <a:avLst/>
          </a:prstGeom>
          <a:noFill/>
        </p:spPr>
        <p:txBody>
          <a:bodyPr wrap="square" anchor="ctr">
            <a:spAutoFit/>
          </a:bodyPr>
          <a:lstStyle/>
          <a:p>
            <a:pPr algn="l"/>
            <a:r>
              <a:rPr sz="2200" b="1">
                <a:solidFill>
                  <a:srgbClr val="EEF4F7"/>
                </a:solidFill>
                <a:latin typeface="Aptos"/>
              </a:rPr>
              <a:t>Routing stays static</a:t>
            </a:r>
          </a:p>
        </p:txBody>
      </p:sp>
      <p:sp>
        <p:nvSpPr>
          <p:cNvPr id="17" name="TextBox 16"/>
          <p:cNvSpPr txBox="1"/>
          <p:nvPr/>
        </p:nvSpPr>
        <p:spPr>
          <a:xfrm>
            <a:off x="8302752" y="3730752"/>
            <a:ext cx="3191256" cy="256032"/>
          </a:xfrm>
          <a:prstGeom prst="rect">
            <a:avLst/>
          </a:prstGeom>
          <a:noFill/>
        </p:spPr>
        <p:txBody>
          <a:bodyPr wrap="square" anchor="ctr">
            <a:spAutoFit/>
          </a:bodyPr>
          <a:lstStyle/>
          <a:p>
            <a:pPr algn="l"/>
            <a:r>
              <a:rPr sz="900" b="0">
                <a:solidFill>
                  <a:srgbClr val="99A8B1"/>
                </a:solidFill>
                <a:latin typeface="Aptos"/>
              </a:rPr>
              <a:t>Teams rarely measure whether another model could meet quality targets faster or cheaper.</a:t>
            </a:r>
          </a:p>
        </p:txBody>
      </p:sp>
      <p:sp>
        <p:nvSpPr>
          <p:cNvPr id="18" name="TextBox 17"/>
          <p:cNvSpPr txBox="1"/>
          <p:nvPr/>
        </p:nvSpPr>
        <p:spPr>
          <a:xfrm>
            <a:off x="685800" y="4892040"/>
            <a:ext cx="10789920" cy="594360"/>
          </a:xfrm>
          <a:prstGeom prst="rect">
            <a:avLst/>
          </a:prstGeom>
          <a:noFill/>
        </p:spPr>
        <p:txBody>
          <a:bodyPr wrap="square" anchor="ctr">
            <a:spAutoFit/>
          </a:bodyPr>
          <a:lstStyle/>
          <a:p>
            <a:pPr algn="ctr"/>
            <a:r>
              <a:rPr sz="2200" b="1">
                <a:solidFill>
                  <a:srgbClr val="1DD3DD"/>
                </a:solidFill>
                <a:latin typeface="Aptos"/>
              </a:rPr>
              <a:t>The missing layer is not another model. It is an inference control plane.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3657600" cy="320040"/>
          </a:xfrm>
          <a:prstGeom prst="rect">
            <a:avLst/>
          </a:prstGeom>
          <a:noFill/>
        </p:spPr>
        <p:txBody>
          <a:bodyPr wrap="square" anchor="ctr">
            <a:spAutoFit/>
          </a:bodyPr>
          <a:lstStyle/>
          <a:p>
            <a:pPr algn="l"/>
            <a:r>
              <a:rPr sz="1100" b="1">
                <a:solidFill>
                  <a:srgbClr val="1DD3DD"/>
                </a:solidFill>
                <a:latin typeface="Aptos"/>
              </a:rPr>
              <a:t>SOLUTION</a:t>
            </a:r>
          </a:p>
        </p:txBody>
      </p:sp>
      <p:sp>
        <p:nvSpPr>
          <p:cNvPr id="4" name="TextBox 3"/>
          <p:cNvSpPr txBox="1"/>
          <p:nvPr/>
        </p:nvSpPr>
        <p:spPr>
          <a:xfrm>
            <a:off x="502920" y="685800"/>
            <a:ext cx="11064240" cy="685800"/>
          </a:xfrm>
          <a:prstGeom prst="rect">
            <a:avLst/>
          </a:prstGeom>
          <a:noFill/>
        </p:spPr>
        <p:txBody>
          <a:bodyPr wrap="square" anchor="ctr">
            <a:spAutoFit/>
          </a:bodyPr>
          <a:lstStyle/>
          <a:p>
            <a:pPr algn="l"/>
            <a:r>
              <a:rPr sz="2900" b="1">
                <a:solidFill>
                  <a:srgbClr val="EEF4F7"/>
                </a:solidFill>
                <a:latin typeface="Aptos"/>
              </a:rPr>
              <a:t>RouteIQ selects the least expensive model that meets the required quality.</a:t>
            </a:r>
          </a:p>
        </p:txBody>
      </p:sp>
      <p:sp>
        <p:nvSpPr>
          <p:cNvPr id="5" name="TextBox 4"/>
          <p:cNvSpPr txBox="1"/>
          <p:nvPr/>
        </p:nvSpPr>
        <p:spPr>
          <a:xfrm>
            <a:off x="502920" y="1353312"/>
            <a:ext cx="10972800" cy="502920"/>
          </a:xfrm>
          <a:prstGeom prst="rect">
            <a:avLst/>
          </a:prstGeom>
          <a:noFill/>
        </p:spPr>
        <p:txBody>
          <a:bodyPr wrap="square" anchor="ctr">
            <a:spAutoFit/>
          </a:bodyPr>
          <a:lstStyle/>
          <a:p>
            <a:pPr algn="l"/>
            <a:r>
              <a:rPr sz="1400" b="0">
                <a:solidFill>
                  <a:srgbClr val="99A8B1"/>
                </a:solidFill>
                <a:latin typeface="Aptos"/>
              </a:rPr>
              <a:t>Capability gate → workload fit → complexity → evidence → cost → latency.</a:t>
            </a:r>
          </a:p>
        </p:txBody>
      </p:sp>
      <p:sp>
        <p:nvSpPr>
          <p:cNvPr id="6" name="Rounded Rectangle 5"/>
          <p:cNvSpPr/>
          <p:nvPr/>
        </p:nvSpPr>
        <p:spPr>
          <a:xfrm>
            <a:off x="502920" y="2011680"/>
            <a:ext cx="1645920" cy="640080"/>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30552"/>
            <a:ext cx="1645920" cy="320040"/>
          </a:xfrm>
          <a:prstGeom prst="rect">
            <a:avLst/>
          </a:prstGeom>
          <a:noFill/>
        </p:spPr>
        <p:txBody>
          <a:bodyPr wrap="square" anchor="ctr">
            <a:spAutoFit/>
          </a:bodyPr>
          <a:lstStyle/>
          <a:p>
            <a:pPr algn="ctr"/>
            <a:r>
              <a:rPr sz="1100" b="1">
                <a:solidFill>
                  <a:srgbClr val="EEF4F7"/>
                </a:solidFill>
                <a:latin typeface="Aptos"/>
              </a:rPr>
              <a:t>REQUEST</a:t>
            </a:r>
          </a:p>
        </p:txBody>
      </p:sp>
      <p:sp>
        <p:nvSpPr>
          <p:cNvPr id="8" name="Rounded Rectangle 7"/>
          <p:cNvSpPr/>
          <p:nvPr/>
        </p:nvSpPr>
        <p:spPr>
          <a:xfrm>
            <a:off x="2743200" y="2011680"/>
            <a:ext cx="1645920" cy="640080"/>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0" y="2130552"/>
            <a:ext cx="1645920" cy="320040"/>
          </a:xfrm>
          <a:prstGeom prst="rect">
            <a:avLst/>
          </a:prstGeom>
          <a:noFill/>
        </p:spPr>
        <p:txBody>
          <a:bodyPr wrap="square" anchor="ctr">
            <a:spAutoFit/>
          </a:bodyPr>
          <a:lstStyle/>
          <a:p>
            <a:pPr algn="ctr"/>
            <a:r>
              <a:rPr sz="1100" b="1">
                <a:solidFill>
                  <a:srgbClr val="EEF4F7"/>
                </a:solidFill>
                <a:latin typeface="Aptos"/>
              </a:rPr>
              <a:t>ROUTEIQ</a:t>
            </a:r>
          </a:p>
        </p:txBody>
      </p:sp>
      <p:sp>
        <p:nvSpPr>
          <p:cNvPr id="10" name="Rounded Rectangle 9"/>
          <p:cNvSpPr/>
          <p:nvPr/>
        </p:nvSpPr>
        <p:spPr>
          <a:xfrm>
            <a:off x="5166360" y="2011680"/>
            <a:ext cx="1645920" cy="640080"/>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66360" y="2130552"/>
            <a:ext cx="1645920" cy="320040"/>
          </a:xfrm>
          <a:prstGeom prst="rect">
            <a:avLst/>
          </a:prstGeom>
          <a:noFill/>
        </p:spPr>
        <p:txBody>
          <a:bodyPr wrap="square" anchor="ctr">
            <a:spAutoFit/>
          </a:bodyPr>
          <a:lstStyle/>
          <a:p>
            <a:pPr algn="ctr"/>
            <a:r>
              <a:rPr sz="1100" b="1">
                <a:solidFill>
                  <a:srgbClr val="EEF4F7"/>
                </a:solidFill>
                <a:latin typeface="Aptos"/>
              </a:rPr>
              <a:t>MODEL</a:t>
            </a:r>
          </a:p>
        </p:txBody>
      </p:sp>
      <p:sp>
        <p:nvSpPr>
          <p:cNvPr id="12" name="Rounded Rectangle 11"/>
          <p:cNvSpPr/>
          <p:nvPr/>
        </p:nvSpPr>
        <p:spPr>
          <a:xfrm>
            <a:off x="7406640" y="2011680"/>
            <a:ext cx="1645920" cy="640080"/>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06640" y="2130552"/>
            <a:ext cx="1645920" cy="320040"/>
          </a:xfrm>
          <a:prstGeom prst="rect">
            <a:avLst/>
          </a:prstGeom>
          <a:noFill/>
        </p:spPr>
        <p:txBody>
          <a:bodyPr wrap="square" anchor="ctr">
            <a:spAutoFit/>
          </a:bodyPr>
          <a:lstStyle/>
          <a:p>
            <a:pPr algn="ctr"/>
            <a:r>
              <a:rPr sz="1100" b="1">
                <a:solidFill>
                  <a:srgbClr val="EEF4F7"/>
                </a:solidFill>
                <a:latin typeface="Aptos"/>
              </a:rPr>
              <a:t>NEBIUS</a:t>
            </a:r>
          </a:p>
        </p:txBody>
      </p:sp>
      <p:sp>
        <p:nvSpPr>
          <p:cNvPr id="14" name="Rounded Rectangle 13"/>
          <p:cNvSpPr/>
          <p:nvPr/>
        </p:nvSpPr>
        <p:spPr>
          <a:xfrm>
            <a:off x="9646920" y="2011680"/>
            <a:ext cx="1645920" cy="640080"/>
          </a:xfrm>
          <a:prstGeom prst="roundRect">
            <a:avLst/>
          </a:prstGeom>
          <a:solidFill>
            <a:srgbClr val="0F181D"/>
          </a:solidFill>
          <a:ln>
            <a:solidFill>
              <a:srgbClr val="1DD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46920" y="2130552"/>
            <a:ext cx="1645920" cy="320040"/>
          </a:xfrm>
          <a:prstGeom prst="rect">
            <a:avLst/>
          </a:prstGeom>
          <a:noFill/>
        </p:spPr>
        <p:txBody>
          <a:bodyPr wrap="square" anchor="ctr">
            <a:spAutoFit/>
          </a:bodyPr>
          <a:lstStyle/>
          <a:p>
            <a:pPr algn="ctr"/>
            <a:r>
              <a:rPr sz="1100" b="1">
                <a:solidFill>
                  <a:srgbClr val="EEF4F7"/>
                </a:solidFill>
                <a:latin typeface="Aptos"/>
              </a:rPr>
              <a:t>EVIDENCE</a:t>
            </a:r>
          </a:p>
        </p:txBody>
      </p:sp>
      <p:sp>
        <p:nvSpPr>
          <p:cNvPr id="16" name="TextBox 15"/>
          <p:cNvSpPr txBox="1"/>
          <p:nvPr/>
        </p:nvSpPr>
        <p:spPr>
          <a:xfrm>
            <a:off x="2176272" y="2084831"/>
            <a:ext cx="457200" cy="320040"/>
          </a:xfrm>
          <a:prstGeom prst="rect">
            <a:avLst/>
          </a:prstGeom>
          <a:noFill/>
        </p:spPr>
        <p:txBody>
          <a:bodyPr wrap="square" anchor="ctr">
            <a:spAutoFit/>
          </a:bodyPr>
          <a:lstStyle/>
          <a:p>
            <a:pPr algn="ctr"/>
            <a:r>
              <a:rPr sz="2000" b="1">
                <a:solidFill>
                  <a:srgbClr val="1DD3DD"/>
                </a:solidFill>
                <a:latin typeface="Aptos"/>
              </a:rPr>
              <a:t>→</a:t>
            </a:r>
          </a:p>
        </p:txBody>
      </p:sp>
      <p:sp>
        <p:nvSpPr>
          <p:cNvPr id="17" name="TextBox 16"/>
          <p:cNvSpPr txBox="1"/>
          <p:nvPr/>
        </p:nvSpPr>
        <p:spPr>
          <a:xfrm>
            <a:off x="4416552" y="2084831"/>
            <a:ext cx="457200" cy="320040"/>
          </a:xfrm>
          <a:prstGeom prst="rect">
            <a:avLst/>
          </a:prstGeom>
          <a:noFill/>
        </p:spPr>
        <p:txBody>
          <a:bodyPr wrap="square" anchor="ctr">
            <a:spAutoFit/>
          </a:bodyPr>
          <a:lstStyle/>
          <a:p>
            <a:pPr algn="ctr"/>
            <a:r>
              <a:rPr sz="2000" b="1">
                <a:solidFill>
                  <a:srgbClr val="1DD3DD"/>
                </a:solidFill>
                <a:latin typeface="Aptos"/>
              </a:rPr>
              <a:t>→</a:t>
            </a:r>
          </a:p>
        </p:txBody>
      </p:sp>
      <p:sp>
        <p:nvSpPr>
          <p:cNvPr id="18" name="TextBox 17"/>
          <p:cNvSpPr txBox="1"/>
          <p:nvPr/>
        </p:nvSpPr>
        <p:spPr>
          <a:xfrm>
            <a:off x="6656832" y="2084831"/>
            <a:ext cx="457200" cy="320040"/>
          </a:xfrm>
          <a:prstGeom prst="rect">
            <a:avLst/>
          </a:prstGeom>
          <a:noFill/>
        </p:spPr>
        <p:txBody>
          <a:bodyPr wrap="square" anchor="ctr">
            <a:spAutoFit/>
          </a:bodyPr>
          <a:lstStyle/>
          <a:p>
            <a:pPr algn="ctr"/>
            <a:r>
              <a:rPr sz="2000" b="1">
                <a:solidFill>
                  <a:srgbClr val="1DD3DD"/>
                </a:solidFill>
                <a:latin typeface="Aptos"/>
              </a:rPr>
              <a:t>→</a:t>
            </a:r>
          </a:p>
        </p:txBody>
      </p:sp>
      <p:sp>
        <p:nvSpPr>
          <p:cNvPr id="19" name="TextBox 18"/>
          <p:cNvSpPr txBox="1"/>
          <p:nvPr/>
        </p:nvSpPr>
        <p:spPr>
          <a:xfrm>
            <a:off x="8897112" y="2084831"/>
            <a:ext cx="457200" cy="320040"/>
          </a:xfrm>
          <a:prstGeom prst="rect">
            <a:avLst/>
          </a:prstGeom>
          <a:noFill/>
        </p:spPr>
        <p:txBody>
          <a:bodyPr wrap="square" anchor="ctr">
            <a:spAutoFit/>
          </a:bodyPr>
          <a:lstStyle/>
          <a:p>
            <a:pPr algn="ctr"/>
            <a:r>
              <a:rPr sz="2000" b="1">
                <a:solidFill>
                  <a:srgbClr val="1DD3DD"/>
                </a:solidFill>
                <a:latin typeface="Aptos"/>
              </a:rPr>
              <a:t>→</a:t>
            </a:r>
          </a:p>
        </p:txBody>
      </p:sp>
      <p:sp>
        <p:nvSpPr>
          <p:cNvPr id="20" name="Rounded Rectangle 19"/>
          <p:cNvSpPr/>
          <p:nvPr/>
        </p:nvSpPr>
        <p:spPr>
          <a:xfrm>
            <a:off x="594360" y="3246120"/>
            <a:ext cx="3383280" cy="91440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3355848"/>
            <a:ext cx="3054096" cy="256032"/>
          </a:xfrm>
          <a:prstGeom prst="rect">
            <a:avLst/>
          </a:prstGeom>
          <a:noFill/>
        </p:spPr>
        <p:txBody>
          <a:bodyPr wrap="square" anchor="ctr">
            <a:spAutoFit/>
          </a:bodyPr>
          <a:lstStyle/>
          <a:p>
            <a:pPr algn="l"/>
            <a:r>
              <a:rPr sz="1000" b="1">
                <a:solidFill>
                  <a:srgbClr val="99A8B1"/>
                </a:solidFill>
                <a:latin typeface="Aptos"/>
              </a:rPr>
              <a:t>AUTO ROUTING</a:t>
            </a:r>
          </a:p>
        </p:txBody>
      </p:sp>
      <p:sp>
        <p:nvSpPr>
          <p:cNvPr id="22" name="TextBox 21"/>
          <p:cNvSpPr txBox="1"/>
          <p:nvPr/>
        </p:nvSpPr>
        <p:spPr>
          <a:xfrm>
            <a:off x="758952" y="3776472"/>
            <a:ext cx="3054096" cy="256032"/>
          </a:xfrm>
          <a:prstGeom prst="rect">
            <a:avLst/>
          </a:prstGeom>
          <a:noFill/>
        </p:spPr>
        <p:txBody>
          <a:bodyPr wrap="square" anchor="ctr">
            <a:spAutoFit/>
          </a:bodyPr>
          <a:lstStyle/>
          <a:p>
            <a:pPr algn="l"/>
            <a:r>
              <a:rPr sz="900" b="0">
                <a:solidFill>
                  <a:srgbClr val="99A8B1"/>
                </a:solidFill>
                <a:latin typeface="Aptos"/>
              </a:rPr>
              <a:t>Fast / Balanced / Deep + exact model</a:t>
            </a:r>
          </a:p>
        </p:txBody>
      </p:sp>
      <p:sp>
        <p:nvSpPr>
          <p:cNvPr id="23" name="Rounded Rectangle 22"/>
          <p:cNvSpPr/>
          <p:nvPr/>
        </p:nvSpPr>
        <p:spPr>
          <a:xfrm>
            <a:off x="4389120" y="3246120"/>
            <a:ext cx="3383280" cy="91440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53712" y="3355848"/>
            <a:ext cx="3054096" cy="256032"/>
          </a:xfrm>
          <a:prstGeom prst="rect">
            <a:avLst/>
          </a:prstGeom>
          <a:noFill/>
        </p:spPr>
        <p:txBody>
          <a:bodyPr wrap="square" anchor="ctr">
            <a:spAutoFit/>
          </a:bodyPr>
          <a:lstStyle/>
          <a:p>
            <a:pPr algn="l"/>
            <a:r>
              <a:rPr sz="1000" b="1">
                <a:solidFill>
                  <a:srgbClr val="99A8B1"/>
                </a:solidFill>
                <a:latin typeface="Aptos"/>
              </a:rPr>
              <a:t>LIVE ECONOMICS</a:t>
            </a:r>
          </a:p>
        </p:txBody>
      </p:sp>
      <p:sp>
        <p:nvSpPr>
          <p:cNvPr id="25" name="TextBox 24"/>
          <p:cNvSpPr txBox="1"/>
          <p:nvPr/>
        </p:nvSpPr>
        <p:spPr>
          <a:xfrm>
            <a:off x="4553712" y="3776472"/>
            <a:ext cx="3054096" cy="256032"/>
          </a:xfrm>
          <a:prstGeom prst="rect">
            <a:avLst/>
          </a:prstGeom>
          <a:noFill/>
        </p:spPr>
        <p:txBody>
          <a:bodyPr wrap="square" anchor="ctr">
            <a:spAutoFit/>
          </a:bodyPr>
          <a:lstStyle/>
          <a:p>
            <a:pPr algn="l"/>
            <a:r>
              <a:rPr sz="900" b="0">
                <a:solidFill>
                  <a:srgbClr val="99A8B1"/>
                </a:solidFill>
                <a:latin typeface="Aptos"/>
              </a:rPr>
              <a:t>Requesty Nebius pricing reference + runtime tokens</a:t>
            </a:r>
          </a:p>
        </p:txBody>
      </p:sp>
      <p:sp>
        <p:nvSpPr>
          <p:cNvPr id="26" name="Rounded Rectangle 25"/>
          <p:cNvSpPr/>
          <p:nvPr/>
        </p:nvSpPr>
        <p:spPr>
          <a:xfrm>
            <a:off x="8183880" y="3246120"/>
            <a:ext cx="3383280" cy="91440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8472" y="3355848"/>
            <a:ext cx="3054096" cy="256032"/>
          </a:xfrm>
          <a:prstGeom prst="rect">
            <a:avLst/>
          </a:prstGeom>
          <a:noFill/>
        </p:spPr>
        <p:txBody>
          <a:bodyPr wrap="square" anchor="ctr">
            <a:spAutoFit/>
          </a:bodyPr>
          <a:lstStyle/>
          <a:p>
            <a:pPr algn="l"/>
            <a:r>
              <a:rPr sz="1000" b="1">
                <a:solidFill>
                  <a:srgbClr val="99A8B1"/>
                </a:solidFill>
                <a:latin typeface="Aptos"/>
              </a:rPr>
              <a:t>TRADE-OFFS</a:t>
            </a:r>
          </a:p>
        </p:txBody>
      </p:sp>
      <p:sp>
        <p:nvSpPr>
          <p:cNvPr id="28" name="TextBox 27"/>
          <p:cNvSpPr txBox="1"/>
          <p:nvPr/>
        </p:nvSpPr>
        <p:spPr>
          <a:xfrm>
            <a:off x="8348472" y="3776472"/>
            <a:ext cx="3054096" cy="256032"/>
          </a:xfrm>
          <a:prstGeom prst="rect">
            <a:avLst/>
          </a:prstGeom>
          <a:noFill/>
        </p:spPr>
        <p:txBody>
          <a:bodyPr wrap="square" anchor="ctr">
            <a:spAutoFit/>
          </a:bodyPr>
          <a:lstStyle/>
          <a:p>
            <a:pPr algn="l"/>
            <a:r>
              <a:rPr sz="900" b="0">
                <a:solidFill>
                  <a:srgbClr val="99A8B1"/>
                </a:solidFill>
                <a:latin typeface="Aptos"/>
              </a:rPr>
              <a:t>Quality × cost, quality × latency, token efficiency</a:t>
            </a:r>
          </a:p>
        </p:txBody>
      </p:sp>
      <p:sp>
        <p:nvSpPr>
          <p:cNvPr id="29" name="Rounded Rectangle 28"/>
          <p:cNvSpPr/>
          <p:nvPr/>
        </p:nvSpPr>
        <p:spPr>
          <a:xfrm>
            <a:off x="594360" y="4389120"/>
            <a:ext cx="3383280" cy="91440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952" y="4498848"/>
            <a:ext cx="3054096" cy="256032"/>
          </a:xfrm>
          <a:prstGeom prst="rect">
            <a:avLst/>
          </a:prstGeom>
          <a:noFill/>
        </p:spPr>
        <p:txBody>
          <a:bodyPr wrap="square" anchor="ctr">
            <a:spAutoFit/>
          </a:bodyPr>
          <a:lstStyle/>
          <a:p>
            <a:pPr algn="l"/>
            <a:r>
              <a:rPr sz="1000" b="1">
                <a:solidFill>
                  <a:srgbClr val="99A8B1"/>
                </a:solidFill>
                <a:latin typeface="Aptos"/>
              </a:rPr>
              <a:t>CHALLENGE AUTO</a:t>
            </a:r>
          </a:p>
        </p:txBody>
      </p:sp>
      <p:sp>
        <p:nvSpPr>
          <p:cNvPr id="31" name="TextBox 30"/>
          <p:cNvSpPr txBox="1"/>
          <p:nvPr/>
        </p:nvSpPr>
        <p:spPr>
          <a:xfrm>
            <a:off x="758952" y="4919472"/>
            <a:ext cx="3054096" cy="256032"/>
          </a:xfrm>
          <a:prstGeom prst="rect">
            <a:avLst/>
          </a:prstGeom>
          <a:noFill/>
        </p:spPr>
        <p:txBody>
          <a:bodyPr wrap="square" anchor="ctr">
            <a:spAutoFit/>
          </a:bodyPr>
          <a:lstStyle/>
          <a:p>
            <a:pPr algn="l"/>
            <a:r>
              <a:rPr sz="900" b="0">
                <a:solidFill>
                  <a:srgbClr val="99A8B1"/>
                </a:solidFill>
                <a:latin typeface="Aptos"/>
              </a:rPr>
              <a:t>Force another eligible model and compare</a:t>
            </a:r>
          </a:p>
        </p:txBody>
      </p:sp>
      <p:sp>
        <p:nvSpPr>
          <p:cNvPr id="32" name="Rounded Rectangle 31"/>
          <p:cNvSpPr/>
          <p:nvPr/>
        </p:nvSpPr>
        <p:spPr>
          <a:xfrm>
            <a:off x="4389120" y="4389120"/>
            <a:ext cx="3383280" cy="91440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53712" y="4498848"/>
            <a:ext cx="3054096" cy="256032"/>
          </a:xfrm>
          <a:prstGeom prst="rect">
            <a:avLst/>
          </a:prstGeom>
          <a:noFill/>
        </p:spPr>
        <p:txBody>
          <a:bodyPr wrap="square" anchor="ctr">
            <a:spAutoFit/>
          </a:bodyPr>
          <a:lstStyle/>
          <a:p>
            <a:pPr algn="l"/>
            <a:r>
              <a:rPr sz="1000" b="1">
                <a:solidFill>
                  <a:srgbClr val="99A8B1"/>
                </a:solidFill>
                <a:latin typeface="Aptos"/>
              </a:rPr>
              <a:t>ADAPTIVE EVIDENCE</a:t>
            </a:r>
          </a:p>
        </p:txBody>
      </p:sp>
      <p:sp>
        <p:nvSpPr>
          <p:cNvPr id="34" name="TextBox 33"/>
          <p:cNvSpPr txBox="1"/>
          <p:nvPr/>
        </p:nvSpPr>
        <p:spPr>
          <a:xfrm>
            <a:off x="4553712" y="4919472"/>
            <a:ext cx="3054096" cy="256032"/>
          </a:xfrm>
          <a:prstGeom prst="rect">
            <a:avLst/>
          </a:prstGeom>
          <a:noFill/>
        </p:spPr>
        <p:txBody>
          <a:bodyPr wrap="square" anchor="ctr">
            <a:spAutoFit/>
          </a:bodyPr>
          <a:lstStyle/>
          <a:p>
            <a:pPr algn="l"/>
            <a:r>
              <a:rPr sz="900" b="0">
                <a:solidFill>
                  <a:srgbClr val="99A8B1"/>
                </a:solidFill>
                <a:latin typeface="Aptos"/>
              </a:rPr>
              <a:t>Learn workload-specific routing preferences</a:t>
            </a:r>
          </a:p>
        </p:txBody>
      </p:sp>
      <p:sp>
        <p:nvSpPr>
          <p:cNvPr id="35" name="Rounded Rectangle 34"/>
          <p:cNvSpPr/>
          <p:nvPr/>
        </p:nvSpPr>
        <p:spPr>
          <a:xfrm>
            <a:off x="8183880" y="4389120"/>
            <a:ext cx="3383280" cy="91440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48472" y="4498848"/>
            <a:ext cx="3054096" cy="256032"/>
          </a:xfrm>
          <a:prstGeom prst="rect">
            <a:avLst/>
          </a:prstGeom>
          <a:noFill/>
        </p:spPr>
        <p:txBody>
          <a:bodyPr wrap="square" anchor="ctr">
            <a:spAutoFit/>
          </a:bodyPr>
          <a:lstStyle/>
          <a:p>
            <a:pPr algn="l"/>
            <a:r>
              <a:rPr sz="1000" b="1">
                <a:solidFill>
                  <a:srgbClr val="99A8B1"/>
                </a:solidFill>
                <a:latin typeface="Aptos"/>
              </a:rPr>
              <a:t>FRESHNESS GATE</a:t>
            </a:r>
          </a:p>
        </p:txBody>
      </p:sp>
      <p:sp>
        <p:nvSpPr>
          <p:cNvPr id="37" name="TextBox 36"/>
          <p:cNvSpPr txBox="1"/>
          <p:nvPr/>
        </p:nvSpPr>
        <p:spPr>
          <a:xfrm>
            <a:off x="8348472" y="4919472"/>
            <a:ext cx="3054096" cy="256032"/>
          </a:xfrm>
          <a:prstGeom prst="rect">
            <a:avLst/>
          </a:prstGeom>
          <a:noFill/>
        </p:spPr>
        <p:txBody>
          <a:bodyPr wrap="square" anchor="ctr">
            <a:spAutoFit/>
          </a:bodyPr>
          <a:lstStyle/>
          <a:p>
            <a:pPr algn="l"/>
            <a:r>
              <a:rPr sz="900" b="0">
                <a:solidFill>
                  <a:srgbClr val="99A8B1"/>
                </a:solidFill>
                <a:latin typeface="Aptos"/>
              </a:rPr>
              <a:t>Use Tavily only when current external evidence is needed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3657600" cy="320040"/>
          </a:xfrm>
          <a:prstGeom prst="rect">
            <a:avLst/>
          </a:prstGeom>
          <a:noFill/>
        </p:spPr>
        <p:txBody>
          <a:bodyPr wrap="square" anchor="ctr">
            <a:spAutoFit/>
          </a:bodyPr>
          <a:lstStyle/>
          <a:p>
            <a:pPr algn="l"/>
            <a:r>
              <a:rPr sz="1100" b="1">
                <a:solidFill>
                  <a:srgbClr val="1DD3DD"/>
                </a:solidFill>
                <a:latin typeface="Aptos"/>
              </a:rPr>
              <a:t>IMPACT</a:t>
            </a:r>
          </a:p>
        </p:txBody>
      </p:sp>
      <p:sp>
        <p:nvSpPr>
          <p:cNvPr id="4" name="TextBox 3"/>
          <p:cNvSpPr txBox="1"/>
          <p:nvPr/>
        </p:nvSpPr>
        <p:spPr>
          <a:xfrm>
            <a:off x="502920" y="685800"/>
            <a:ext cx="11064240" cy="685800"/>
          </a:xfrm>
          <a:prstGeom prst="rect">
            <a:avLst/>
          </a:prstGeom>
          <a:noFill/>
        </p:spPr>
        <p:txBody>
          <a:bodyPr wrap="square" anchor="ctr">
            <a:spAutoFit/>
          </a:bodyPr>
          <a:lstStyle/>
          <a:p>
            <a:pPr algn="l"/>
            <a:r>
              <a:rPr sz="2900" b="1">
                <a:solidFill>
                  <a:srgbClr val="EEF4F7"/>
                </a:solidFill>
                <a:latin typeface="Aptos"/>
              </a:rPr>
              <a:t>Turn model choice into measurable inference economics.</a:t>
            </a:r>
          </a:p>
        </p:txBody>
      </p:sp>
      <p:sp>
        <p:nvSpPr>
          <p:cNvPr id="5" name="TextBox 4"/>
          <p:cNvSpPr txBox="1"/>
          <p:nvPr/>
        </p:nvSpPr>
        <p:spPr>
          <a:xfrm>
            <a:off x="502920" y="1353312"/>
            <a:ext cx="10972800" cy="502920"/>
          </a:xfrm>
          <a:prstGeom prst="rect">
            <a:avLst/>
          </a:prstGeom>
          <a:noFill/>
        </p:spPr>
        <p:txBody>
          <a:bodyPr wrap="square" anchor="ctr">
            <a:spAutoFit/>
          </a:bodyPr>
          <a:lstStyle/>
          <a:p>
            <a:pPr algn="l"/>
            <a:r>
              <a:rPr sz="1400" b="0">
                <a:solidFill>
                  <a:srgbClr val="99A8B1"/>
                </a:solidFill>
                <a:latin typeface="Aptos"/>
              </a:rPr>
              <a:t>RouteIQ makes quality, cost, latency and escalation decisions observable.</a:t>
            </a:r>
          </a:p>
        </p:txBody>
      </p:sp>
      <p:sp>
        <p:nvSpPr>
          <p:cNvPr id="6" name="Rounded Rectangle 5"/>
          <p:cNvSpPr/>
          <p:nvPr/>
        </p:nvSpPr>
        <p:spPr>
          <a:xfrm>
            <a:off x="502920" y="2057400"/>
            <a:ext cx="2606040" cy="141732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2167128"/>
            <a:ext cx="2276856" cy="256032"/>
          </a:xfrm>
          <a:prstGeom prst="rect">
            <a:avLst/>
          </a:prstGeom>
          <a:noFill/>
        </p:spPr>
        <p:txBody>
          <a:bodyPr wrap="square" anchor="ctr">
            <a:spAutoFit/>
          </a:bodyPr>
          <a:lstStyle/>
          <a:p>
            <a:pPr algn="l"/>
            <a:r>
              <a:rPr sz="1000" b="1">
                <a:solidFill>
                  <a:srgbClr val="99A8B1"/>
                </a:solidFill>
                <a:latin typeface="Aptos"/>
              </a:rPr>
              <a:t>QUALITY RETAINED</a:t>
            </a:r>
          </a:p>
        </p:txBody>
      </p:sp>
      <p:sp>
        <p:nvSpPr>
          <p:cNvPr id="8" name="TextBox 7"/>
          <p:cNvSpPr txBox="1"/>
          <p:nvPr/>
        </p:nvSpPr>
        <p:spPr>
          <a:xfrm>
            <a:off x="667512" y="2441448"/>
            <a:ext cx="2276856" cy="502920"/>
          </a:xfrm>
          <a:prstGeom prst="rect">
            <a:avLst/>
          </a:prstGeom>
          <a:noFill/>
        </p:spPr>
        <p:txBody>
          <a:bodyPr wrap="square" anchor="ctr">
            <a:spAutoFit/>
          </a:bodyPr>
          <a:lstStyle/>
          <a:p>
            <a:pPr algn="l"/>
            <a:r>
              <a:rPr sz="2200" b="1">
                <a:solidFill>
                  <a:srgbClr val="EEF4F7"/>
                </a:solidFill>
                <a:latin typeface="Aptos"/>
              </a:rPr>
              <a:t>Measured</a:t>
            </a:r>
          </a:p>
        </p:txBody>
      </p:sp>
      <p:sp>
        <p:nvSpPr>
          <p:cNvPr id="9" name="TextBox 8"/>
          <p:cNvSpPr txBox="1"/>
          <p:nvPr/>
        </p:nvSpPr>
        <p:spPr>
          <a:xfrm>
            <a:off x="667512" y="3090672"/>
            <a:ext cx="2276856" cy="256032"/>
          </a:xfrm>
          <a:prstGeom prst="rect">
            <a:avLst/>
          </a:prstGeom>
          <a:noFill/>
        </p:spPr>
        <p:txBody>
          <a:bodyPr wrap="square" anchor="ctr">
            <a:spAutoFit/>
          </a:bodyPr>
          <a:lstStyle/>
          <a:p>
            <a:pPr algn="l"/>
            <a:r>
              <a:rPr sz="900" b="0">
                <a:solidFill>
                  <a:srgbClr val="99A8B1"/>
                </a:solidFill>
                <a:latin typeface="Aptos"/>
              </a:rPr>
              <a:t>Ground-truth benchmarks separate real accuracy from estimated suitability.</a:t>
            </a:r>
          </a:p>
        </p:txBody>
      </p:sp>
      <p:sp>
        <p:nvSpPr>
          <p:cNvPr id="10" name="Rounded Rectangle 9"/>
          <p:cNvSpPr/>
          <p:nvPr/>
        </p:nvSpPr>
        <p:spPr>
          <a:xfrm>
            <a:off x="3273552" y="2057400"/>
            <a:ext cx="2606040" cy="141732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38144" y="2167128"/>
            <a:ext cx="2276856" cy="256032"/>
          </a:xfrm>
          <a:prstGeom prst="rect">
            <a:avLst/>
          </a:prstGeom>
          <a:noFill/>
        </p:spPr>
        <p:txBody>
          <a:bodyPr wrap="square" anchor="ctr">
            <a:spAutoFit/>
          </a:bodyPr>
          <a:lstStyle/>
          <a:p>
            <a:pPr algn="l"/>
            <a:r>
              <a:rPr sz="1000" b="1">
                <a:solidFill>
                  <a:srgbClr val="99A8B1"/>
                </a:solidFill>
                <a:latin typeface="Aptos"/>
              </a:rPr>
              <a:t>COST AVOIDED</a:t>
            </a:r>
          </a:p>
        </p:txBody>
      </p:sp>
      <p:sp>
        <p:nvSpPr>
          <p:cNvPr id="12" name="TextBox 11"/>
          <p:cNvSpPr txBox="1"/>
          <p:nvPr/>
        </p:nvSpPr>
        <p:spPr>
          <a:xfrm>
            <a:off x="3438144" y="2441448"/>
            <a:ext cx="2276856" cy="502920"/>
          </a:xfrm>
          <a:prstGeom prst="rect">
            <a:avLst/>
          </a:prstGeom>
          <a:noFill/>
        </p:spPr>
        <p:txBody>
          <a:bodyPr wrap="square" anchor="ctr">
            <a:spAutoFit/>
          </a:bodyPr>
          <a:lstStyle/>
          <a:p>
            <a:pPr algn="l"/>
            <a:r>
              <a:rPr sz="2200" b="1">
                <a:solidFill>
                  <a:srgbClr val="EEF4F7"/>
                </a:solidFill>
                <a:latin typeface="Aptos"/>
              </a:rPr>
              <a:t>Measured</a:t>
            </a:r>
          </a:p>
        </p:txBody>
      </p:sp>
      <p:sp>
        <p:nvSpPr>
          <p:cNvPr id="13" name="TextBox 12"/>
          <p:cNvSpPr txBox="1"/>
          <p:nvPr/>
        </p:nvSpPr>
        <p:spPr>
          <a:xfrm>
            <a:off x="3438144" y="3090672"/>
            <a:ext cx="2276856" cy="256032"/>
          </a:xfrm>
          <a:prstGeom prst="rect">
            <a:avLst/>
          </a:prstGeom>
          <a:noFill/>
        </p:spPr>
        <p:txBody>
          <a:bodyPr wrap="square" anchor="ctr">
            <a:spAutoFit/>
          </a:bodyPr>
          <a:lstStyle/>
          <a:p>
            <a:pPr algn="l"/>
            <a:r>
              <a:rPr sz="900" b="0">
                <a:solidFill>
                  <a:srgbClr val="99A8B1"/>
                </a:solidFill>
                <a:latin typeface="Aptos"/>
              </a:rPr>
              <a:t>Compare selected route with a Deep-only control when pricing is verified.</a:t>
            </a:r>
          </a:p>
        </p:txBody>
      </p:sp>
      <p:sp>
        <p:nvSpPr>
          <p:cNvPr id="14" name="Rounded Rectangle 13"/>
          <p:cNvSpPr/>
          <p:nvPr/>
        </p:nvSpPr>
        <p:spPr>
          <a:xfrm>
            <a:off x="6044184" y="2057400"/>
            <a:ext cx="2606040" cy="141732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08776" y="2167128"/>
            <a:ext cx="2276856" cy="256032"/>
          </a:xfrm>
          <a:prstGeom prst="rect">
            <a:avLst/>
          </a:prstGeom>
          <a:noFill/>
        </p:spPr>
        <p:txBody>
          <a:bodyPr wrap="square" anchor="ctr">
            <a:spAutoFit/>
          </a:bodyPr>
          <a:lstStyle/>
          <a:p>
            <a:pPr algn="l"/>
            <a:r>
              <a:rPr sz="1000" b="1">
                <a:solidFill>
                  <a:srgbClr val="99A8B1"/>
                </a:solidFill>
                <a:latin typeface="Aptos"/>
              </a:rPr>
              <a:t>LATENCY</a:t>
            </a:r>
          </a:p>
        </p:txBody>
      </p:sp>
      <p:sp>
        <p:nvSpPr>
          <p:cNvPr id="16" name="TextBox 15"/>
          <p:cNvSpPr txBox="1"/>
          <p:nvPr/>
        </p:nvSpPr>
        <p:spPr>
          <a:xfrm>
            <a:off x="6208776" y="2441448"/>
            <a:ext cx="2276856" cy="502920"/>
          </a:xfrm>
          <a:prstGeom prst="rect">
            <a:avLst/>
          </a:prstGeom>
          <a:noFill/>
        </p:spPr>
        <p:txBody>
          <a:bodyPr wrap="square" anchor="ctr">
            <a:spAutoFit/>
          </a:bodyPr>
          <a:lstStyle/>
          <a:p>
            <a:pPr algn="l"/>
            <a:r>
              <a:rPr sz="2200" b="1">
                <a:solidFill>
                  <a:srgbClr val="EEF4F7"/>
                </a:solidFill>
                <a:latin typeface="Aptos"/>
              </a:rPr>
              <a:t>Measured</a:t>
            </a:r>
          </a:p>
        </p:txBody>
      </p:sp>
      <p:sp>
        <p:nvSpPr>
          <p:cNvPr id="17" name="TextBox 16"/>
          <p:cNvSpPr txBox="1"/>
          <p:nvPr/>
        </p:nvSpPr>
        <p:spPr>
          <a:xfrm>
            <a:off x="6208776" y="3090672"/>
            <a:ext cx="2276856" cy="256032"/>
          </a:xfrm>
          <a:prstGeom prst="rect">
            <a:avLst/>
          </a:prstGeom>
          <a:noFill/>
        </p:spPr>
        <p:txBody>
          <a:bodyPr wrap="square" anchor="ctr">
            <a:spAutoFit/>
          </a:bodyPr>
          <a:lstStyle/>
          <a:p>
            <a:pPr algn="l"/>
            <a:r>
              <a:rPr sz="900" b="0">
                <a:solidFill>
                  <a:srgbClr val="99A8B1"/>
                </a:solidFill>
                <a:latin typeface="Aptos"/>
              </a:rPr>
              <a:t>Expose routing, retrieval, inference and end-to-end latency.</a:t>
            </a:r>
          </a:p>
        </p:txBody>
      </p:sp>
      <p:sp>
        <p:nvSpPr>
          <p:cNvPr id="18" name="Rounded Rectangle 17"/>
          <p:cNvSpPr/>
          <p:nvPr/>
        </p:nvSpPr>
        <p:spPr>
          <a:xfrm>
            <a:off x="8814816" y="2057400"/>
            <a:ext cx="2606040" cy="1417320"/>
          </a:xfrm>
          <a:prstGeom prst="roundRect">
            <a:avLst/>
          </a:prstGeom>
          <a:solidFill>
            <a:srgbClr val="0F181D"/>
          </a:solidFill>
          <a:ln>
            <a:solidFill>
              <a:srgbClr val="273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79408" y="2167128"/>
            <a:ext cx="2276856" cy="256032"/>
          </a:xfrm>
          <a:prstGeom prst="rect">
            <a:avLst/>
          </a:prstGeom>
          <a:noFill/>
        </p:spPr>
        <p:txBody>
          <a:bodyPr wrap="square" anchor="ctr">
            <a:spAutoFit/>
          </a:bodyPr>
          <a:lstStyle/>
          <a:p>
            <a:pPr algn="l"/>
            <a:r>
              <a:rPr sz="1000" b="1">
                <a:solidFill>
                  <a:srgbClr val="99A8B1"/>
                </a:solidFill>
                <a:latin typeface="Aptos"/>
              </a:rPr>
              <a:t>DEEP CALLS</a:t>
            </a:r>
          </a:p>
        </p:txBody>
      </p:sp>
      <p:sp>
        <p:nvSpPr>
          <p:cNvPr id="20" name="TextBox 19"/>
          <p:cNvSpPr txBox="1"/>
          <p:nvPr/>
        </p:nvSpPr>
        <p:spPr>
          <a:xfrm>
            <a:off x="8979408" y="2441448"/>
            <a:ext cx="2276856" cy="502920"/>
          </a:xfrm>
          <a:prstGeom prst="rect">
            <a:avLst/>
          </a:prstGeom>
          <a:noFill/>
        </p:spPr>
        <p:txBody>
          <a:bodyPr wrap="square" anchor="ctr">
            <a:spAutoFit/>
          </a:bodyPr>
          <a:lstStyle/>
          <a:p>
            <a:pPr algn="l"/>
            <a:r>
              <a:rPr sz="2200" b="1">
                <a:solidFill>
                  <a:srgbClr val="EEF4F7"/>
                </a:solidFill>
                <a:latin typeface="Aptos"/>
              </a:rPr>
              <a:t>Avoided</a:t>
            </a:r>
          </a:p>
        </p:txBody>
      </p:sp>
      <p:sp>
        <p:nvSpPr>
          <p:cNvPr id="21" name="TextBox 20"/>
          <p:cNvSpPr txBox="1"/>
          <p:nvPr/>
        </p:nvSpPr>
        <p:spPr>
          <a:xfrm>
            <a:off x="8979408" y="3090672"/>
            <a:ext cx="2276856" cy="256032"/>
          </a:xfrm>
          <a:prstGeom prst="rect">
            <a:avLst/>
          </a:prstGeom>
          <a:noFill/>
        </p:spPr>
        <p:txBody>
          <a:bodyPr wrap="square" anchor="ctr">
            <a:spAutoFit/>
          </a:bodyPr>
          <a:lstStyle/>
          <a:p>
            <a:pPr algn="l"/>
            <a:r>
              <a:rPr sz="900" b="0">
                <a:solidFill>
                  <a:srgbClr val="99A8B1"/>
                </a:solidFill>
                <a:latin typeface="Aptos"/>
              </a:rPr>
              <a:t>Count cheaper routes only when benchmark correctness is preserved.</a:t>
            </a:r>
          </a:p>
        </p:txBody>
      </p:sp>
      <p:sp>
        <p:nvSpPr>
          <p:cNvPr id="22" name="TextBox 21"/>
          <p:cNvSpPr txBox="1"/>
          <p:nvPr/>
        </p:nvSpPr>
        <p:spPr>
          <a:xfrm>
            <a:off x="594360" y="3977639"/>
            <a:ext cx="2286000" cy="320040"/>
          </a:xfrm>
          <a:prstGeom prst="rect">
            <a:avLst/>
          </a:prstGeom>
          <a:noFill/>
        </p:spPr>
        <p:txBody>
          <a:bodyPr wrap="square" anchor="ctr">
            <a:spAutoFit/>
          </a:bodyPr>
          <a:lstStyle/>
          <a:p>
            <a:pPr algn="l"/>
            <a:r>
              <a:rPr sz="1200" b="1">
                <a:solidFill>
                  <a:srgbClr val="1DD3DD"/>
                </a:solidFill>
                <a:latin typeface="Aptos"/>
              </a:rPr>
              <a:t>Real customer pattern</a:t>
            </a:r>
          </a:p>
        </p:txBody>
      </p:sp>
      <p:sp>
        <p:nvSpPr>
          <p:cNvPr id="23" name="TextBox 22"/>
          <p:cNvSpPr txBox="1"/>
          <p:nvPr/>
        </p:nvSpPr>
        <p:spPr>
          <a:xfrm>
            <a:off x="594360" y="4315968"/>
            <a:ext cx="2560320" cy="411480"/>
          </a:xfrm>
          <a:prstGeom prst="rect">
            <a:avLst/>
          </a:prstGeom>
          <a:noFill/>
        </p:spPr>
        <p:txBody>
          <a:bodyPr wrap="square" anchor="ctr">
            <a:spAutoFit/>
          </a:bodyPr>
          <a:lstStyle/>
          <a:p>
            <a:pPr algn="l"/>
            <a:r>
              <a:rPr sz="2200" b="1">
                <a:solidFill>
                  <a:srgbClr val="EEF4F7"/>
                </a:solidFill>
                <a:latin typeface="Aptos"/>
              </a:rPr>
              <a:t>FinAssist AI</a:t>
            </a:r>
          </a:p>
        </p:txBody>
      </p:sp>
      <p:sp>
        <p:nvSpPr>
          <p:cNvPr id="24" name="TextBox 23"/>
          <p:cNvSpPr txBox="1"/>
          <p:nvPr/>
        </p:nvSpPr>
        <p:spPr>
          <a:xfrm>
            <a:off x="2788920" y="4069080"/>
            <a:ext cx="8412480" cy="1143000"/>
          </a:xfrm>
          <a:prstGeom prst="rect">
            <a:avLst/>
          </a:prstGeom>
          <a:noFill/>
        </p:spPr>
        <p:txBody>
          <a:bodyPr wrap="square" anchor="ctr">
            <a:spAutoFit/>
          </a:bodyPr>
          <a:lstStyle/>
          <a:p>
            <a:pPr algn="l"/>
            <a:r>
              <a:rPr sz="1600" b="0">
                <a:solidFill>
                  <a:srgbClr val="99A8B1"/>
                </a:solidFill>
                <a:latin typeface="Aptos"/>
              </a:rPr>
              <a:t>Mixed customer-support, research and operations workloads. RouteIQ prevents simple requests from automatically consuming Deep inference while still escalating complex reasoning when evidence justifies it.</a:t>
            </a:r>
          </a:p>
        </p:txBody>
      </p:sp>
      <p:sp>
        <p:nvSpPr>
          <p:cNvPr id="25" name="TextBox 24"/>
          <p:cNvSpPr txBox="1"/>
          <p:nvPr/>
        </p:nvSpPr>
        <p:spPr>
          <a:xfrm>
            <a:off x="594360" y="5715000"/>
            <a:ext cx="10789920" cy="411480"/>
          </a:xfrm>
          <a:prstGeom prst="rect">
            <a:avLst/>
          </a:prstGeom>
          <a:noFill/>
        </p:spPr>
        <p:txBody>
          <a:bodyPr wrap="square" anchor="ctr">
            <a:spAutoFit/>
          </a:bodyPr>
          <a:lstStyle/>
          <a:p>
            <a:pPr algn="ctr"/>
            <a:r>
              <a:rPr sz="2200" b="1">
                <a:solidFill>
                  <a:srgbClr val="1DD3DD"/>
                </a:solidFill>
                <a:latin typeface="Aptos"/>
              </a:rPr>
              <a:t>Fast when sufficient. Deep when necessary.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3657600" cy="320040"/>
          </a:xfrm>
          <a:prstGeom prst="rect">
            <a:avLst/>
          </a:prstGeom>
          <a:noFill/>
        </p:spPr>
        <p:txBody>
          <a:bodyPr wrap="square" anchor="ctr">
            <a:spAutoFit/>
          </a:bodyPr>
          <a:lstStyle/>
          <a:p>
            <a:pPr algn="l"/>
            <a:r>
              <a:rPr sz="1100" b="1">
                <a:solidFill>
                  <a:srgbClr val="1DD3DD"/>
                </a:solidFill>
                <a:latin typeface="Aptos"/>
              </a:rPr>
              <a:t>DEMO</a:t>
            </a:r>
          </a:p>
        </p:txBody>
      </p:sp>
      <p:sp>
        <p:nvSpPr>
          <p:cNvPr id="4" name="TextBox 3"/>
          <p:cNvSpPr txBox="1"/>
          <p:nvPr/>
        </p:nvSpPr>
        <p:spPr>
          <a:xfrm>
            <a:off x="502920" y="685800"/>
            <a:ext cx="11064240" cy="685800"/>
          </a:xfrm>
          <a:prstGeom prst="rect">
            <a:avLst/>
          </a:prstGeom>
          <a:noFill/>
        </p:spPr>
        <p:txBody>
          <a:bodyPr wrap="square" anchor="ctr">
            <a:spAutoFit/>
          </a:bodyPr>
          <a:lstStyle/>
          <a:p>
            <a:pPr algn="l"/>
            <a:r>
              <a:rPr sz="2900" b="1">
                <a:solidFill>
                  <a:srgbClr val="EEF4F7"/>
                </a:solidFill>
                <a:latin typeface="Aptos"/>
              </a:rPr>
              <a:t>Watch RouteIQ make - and defend - the routing decision.</a:t>
            </a:r>
          </a:p>
        </p:txBody>
      </p:sp>
      <p:sp>
        <p:nvSpPr>
          <p:cNvPr id="5" name="TextBox 4"/>
          <p:cNvSpPr txBox="1"/>
          <p:nvPr/>
        </p:nvSpPr>
        <p:spPr>
          <a:xfrm>
            <a:off x="502920" y="1343162"/>
            <a:ext cx="10972800" cy="523220"/>
          </a:xfrm>
          <a:prstGeom prst="rect">
            <a:avLst/>
          </a:prstGeom>
          <a:noFill/>
        </p:spPr>
        <p:txBody>
          <a:bodyPr wrap="square" anchor="ctr">
            <a:spAutoFit/>
          </a:bodyPr>
          <a:lstStyle/>
          <a:p>
            <a:pPr algn="l"/>
            <a:r>
              <a:rPr sz="1400" b="0" dirty="0">
                <a:solidFill>
                  <a:srgbClr val="99A8B1"/>
                </a:solidFill>
                <a:latin typeface="Aptos"/>
              </a:rPr>
              <a:t>Live app walkthrough: Route → model challenge → Benchmark → trade-offs → Business impact.</a:t>
            </a:r>
            <a:endParaRPr lang="sv-SE" sz="1400" b="0" dirty="0">
              <a:solidFill>
                <a:srgbClr val="99A8B1"/>
              </a:solidFill>
              <a:latin typeface="Aptos"/>
            </a:endParaRPr>
          </a:p>
          <a:p>
            <a:r>
              <a:rPr lang="en-US" sz="1400" dirty="0">
                <a:hlinkClick r:id="rId3"/>
              </a:rPr>
              <a:t>See the video:  </a:t>
            </a:r>
            <a:r>
              <a:rPr lang="en-US" sz="1400" dirty="0" err="1">
                <a:hlinkClick r:id="rId3"/>
              </a:rPr>
              <a:t>RouteIQ</a:t>
            </a:r>
            <a:r>
              <a:rPr lang="en-US" sz="1400" dirty="0">
                <a:hlinkClick r:id="rId3"/>
              </a:rPr>
              <a:t>: Cost Efficient Model Selection</a:t>
            </a:r>
            <a:endParaRPr sz="1400" b="0" dirty="0">
              <a:solidFill>
                <a:srgbClr val="99A8B1"/>
              </a:solidFill>
              <a:latin typeface="Aptos"/>
            </a:endParaRPr>
          </a:p>
        </p:txBody>
      </p:sp>
      <p:pic>
        <p:nvPicPr>
          <p:cNvPr id="36" name="Picture 35">
            <a:extLst>
              <a:ext uri="{FF2B5EF4-FFF2-40B4-BE49-F238E27FC236}">
                <a16:creationId xmlns:a16="http://schemas.microsoft.com/office/drawing/2014/main" id="{8F3E16E9-ED7D-DCAB-2246-32C1AADBC990}"/>
              </a:ext>
            </a:extLst>
          </p:cNvPr>
          <p:cNvPicPr>
            <a:picLocks noChangeAspect="1"/>
          </p:cNvPicPr>
          <p:nvPr/>
        </p:nvPicPr>
        <p:blipFill>
          <a:blip r:embed="rId4"/>
          <a:stretch>
            <a:fillRect/>
          </a:stretch>
        </p:blipFill>
        <p:spPr>
          <a:xfrm>
            <a:off x="502920" y="1949200"/>
            <a:ext cx="11492435" cy="48259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0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0"/>
            <a:ext cx="11155680" cy="731520"/>
          </a:xfrm>
          <a:prstGeom prst="rect">
            <a:avLst/>
          </a:prstGeom>
          <a:noFill/>
        </p:spPr>
        <p:txBody>
          <a:bodyPr wrap="square" anchor="ctr">
            <a:spAutoFit/>
          </a:bodyPr>
          <a:lstStyle/>
          <a:p>
            <a:pPr algn="ctr"/>
            <a:r>
              <a:rPr sz="4000" b="1">
                <a:solidFill>
                  <a:srgbClr val="EEF4F7"/>
                </a:solidFill>
                <a:latin typeface="Aptos"/>
              </a:rPr>
              <a:t>RouteIQ</a:t>
            </a:r>
          </a:p>
        </p:txBody>
      </p:sp>
      <p:sp>
        <p:nvSpPr>
          <p:cNvPr id="4" name="TextBox 3"/>
          <p:cNvSpPr txBox="1"/>
          <p:nvPr/>
        </p:nvSpPr>
        <p:spPr>
          <a:xfrm>
            <a:off x="1051560" y="2057400"/>
            <a:ext cx="10058400" cy="594360"/>
          </a:xfrm>
          <a:prstGeom prst="rect">
            <a:avLst/>
          </a:prstGeom>
          <a:noFill/>
        </p:spPr>
        <p:txBody>
          <a:bodyPr wrap="square" anchor="ctr">
            <a:spAutoFit/>
          </a:bodyPr>
          <a:lstStyle/>
          <a:p>
            <a:pPr algn="ctr"/>
            <a:r>
              <a:rPr sz="2300" b="1">
                <a:solidFill>
                  <a:srgbClr val="1DD3DD"/>
                </a:solidFill>
                <a:latin typeface="Aptos"/>
              </a:rPr>
              <a:t>Measure every route. Learn from evidence. Escalate only when necessary.</a:t>
            </a:r>
          </a:p>
        </p:txBody>
      </p:sp>
      <p:sp>
        <p:nvSpPr>
          <p:cNvPr id="5" name="TextBox 4"/>
          <p:cNvSpPr txBox="1"/>
          <p:nvPr/>
        </p:nvSpPr>
        <p:spPr>
          <a:xfrm>
            <a:off x="502920" y="3794760"/>
            <a:ext cx="11155680" cy="502920"/>
          </a:xfrm>
          <a:prstGeom prst="rect">
            <a:avLst/>
          </a:prstGeom>
          <a:noFill/>
        </p:spPr>
        <p:txBody>
          <a:bodyPr wrap="square" anchor="ctr">
            <a:spAutoFit/>
          </a:bodyPr>
          <a:lstStyle/>
          <a:p>
            <a:pPr algn="ctr"/>
            <a:r>
              <a:rPr sz="2800" b="1">
                <a:solidFill>
                  <a:srgbClr val="EEF4F7"/>
                </a:solidFill>
                <a:latin typeface="Aptos"/>
              </a:rPr>
              <a:t>Thank you</a:t>
            </a:r>
          </a:p>
        </p:txBody>
      </p:sp>
      <p:sp>
        <p:nvSpPr>
          <p:cNvPr id="6" name="TextBox 5"/>
          <p:cNvSpPr txBox="1"/>
          <p:nvPr/>
        </p:nvSpPr>
        <p:spPr>
          <a:xfrm>
            <a:off x="502920" y="4389120"/>
            <a:ext cx="11155680" cy="502920"/>
          </a:xfrm>
          <a:prstGeom prst="rect">
            <a:avLst/>
          </a:prstGeom>
          <a:noFill/>
        </p:spPr>
        <p:txBody>
          <a:bodyPr wrap="square" anchor="ctr">
            <a:spAutoFit/>
          </a:bodyPr>
          <a:lstStyle/>
          <a:p>
            <a:pPr algn="ctr"/>
            <a:r>
              <a:rPr sz="2000" b="0">
                <a:solidFill>
                  <a:srgbClr val="99A8B1"/>
                </a:solidFill>
                <a:latin typeface="Aptos"/>
              </a:rPr>
              <a:t>Questions?</a:t>
            </a:r>
          </a:p>
        </p:txBody>
      </p:sp>
      <p:sp>
        <p:nvSpPr>
          <p:cNvPr id="7" name="TextBox 6"/>
          <p:cNvSpPr txBox="1"/>
          <p:nvPr/>
        </p:nvSpPr>
        <p:spPr>
          <a:xfrm>
            <a:off x="518007" y="5749111"/>
            <a:ext cx="11155680" cy="1200329"/>
          </a:xfrm>
          <a:prstGeom prst="rect">
            <a:avLst/>
          </a:prstGeom>
          <a:noFill/>
        </p:spPr>
        <p:txBody>
          <a:bodyPr wrap="square" anchor="ctr">
            <a:spAutoFit/>
          </a:bodyPr>
          <a:lstStyle/>
          <a:p>
            <a:pPr algn="ctr"/>
            <a:r>
              <a:rPr sz="1200" b="0" dirty="0">
                <a:solidFill>
                  <a:srgbClr val="99A8B1"/>
                </a:solidFill>
                <a:latin typeface="Aptos"/>
              </a:rPr>
              <a:t>Hossam Elshahaby</a:t>
            </a:r>
            <a:endParaRPr lang="sv-SE" sz="1200" b="0" dirty="0">
              <a:solidFill>
                <a:srgbClr val="99A8B1"/>
              </a:solidFill>
              <a:latin typeface="Aptos"/>
            </a:endParaRPr>
          </a:p>
          <a:p>
            <a:pPr algn="ctr"/>
            <a:endParaRPr lang="en-US" sz="1200" dirty="0">
              <a:solidFill>
                <a:srgbClr val="99A8B1"/>
              </a:solidFill>
              <a:latin typeface="Aptos"/>
            </a:endParaRPr>
          </a:p>
          <a:p>
            <a:pPr algn="ctr"/>
            <a:endParaRPr lang="en-US" sz="1200" b="0" dirty="0">
              <a:solidFill>
                <a:srgbClr val="99A8B1"/>
              </a:solidFill>
              <a:latin typeface="Aptos"/>
            </a:endParaRPr>
          </a:p>
          <a:p>
            <a:pPr algn="ctr"/>
            <a:endParaRPr lang="en-US" sz="1200" dirty="0">
              <a:solidFill>
                <a:srgbClr val="99A8B1"/>
              </a:solidFill>
              <a:latin typeface="Aptos"/>
            </a:endParaRPr>
          </a:p>
          <a:p>
            <a:pPr algn="ctr"/>
            <a:r>
              <a:rPr lang="sv-SE" sz="1200" dirty="0">
                <a:solidFill>
                  <a:srgbClr val="EEF4F7"/>
                </a:solidFill>
                <a:latin typeface="Aptos"/>
              </a:rPr>
              <a:t>www.github.com/helshahaby/RouteIQ</a:t>
            </a:r>
          </a:p>
          <a:p>
            <a:pPr algn="ctr"/>
            <a:endParaRPr sz="1200" b="0" dirty="0">
              <a:solidFill>
                <a:srgbClr val="99A8B1"/>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842</Words>
  <Application>Microsoft Office PowerPoint</Application>
  <PresentationFormat>Widescreen</PresentationFormat>
  <Paragraphs>87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Hossam Elshahaby</cp:lastModifiedBy>
  <cp:revision>3</cp:revision>
  <dcterms:created xsi:type="dcterms:W3CDTF">2013-01-27T09:14:16Z</dcterms:created>
  <dcterms:modified xsi:type="dcterms:W3CDTF">2026-09-23T12:07:05Z</dcterms:modified>
  <cp:category/>
</cp:coreProperties>
</file>